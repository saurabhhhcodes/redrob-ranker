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015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0B981"/>
                </a:solidFill>
                <a:latin typeface="Outfit"/>
              </a:defRPr>
            </a:pPr>
            <a:r>
              <a:t>Redrob Candidate Discovery Engine</a:t>
            </a:r>
          </a:p>
          <a:p>
            <a:pPr algn="ctr">
              <a:spcBef>
                <a:spcPts val="1500"/>
              </a:spcBef>
              <a:defRPr sz="2000">
                <a:solidFill>
                  <a:srgbClr val="F3F4F6"/>
                </a:solidFill>
                <a:latin typeface="Outfit"/>
              </a:defRPr>
            </a:pPr>
            <a:r>
              <a:t>The Self-Healing Autonomous Development Workspace</a:t>
            </a:r>
          </a:p>
          <a:p>
            <a:pPr algn="ctr">
              <a:spcBef>
                <a:spcPts val="4000"/>
              </a:spcBef>
              <a:defRPr sz="1300">
                <a:solidFill>
                  <a:srgbClr val="9CA3AF"/>
                </a:solidFill>
                <a:latin typeface="Plus Jakarta Sans"/>
              </a:defRPr>
            </a:pPr>
            <a:r>
              <a:t>Track 1: The AI Systems Architect: Reimagining Work</a:t>
            </a:r>
            <a:br/>
            <a:r>
              <a:t>Saurabh Kumar Bajpai • saurabhbajpai03@outlook.com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5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Plus Jakarta Sans"/>
              </a:defRPr>
            </a:pPr>
            <a:r>
              <a:t>DEVELOPER FRICTION AT SCALE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5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3F4F6"/>
                </a:solidFill>
                <a:latin typeface="Outfit"/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F3F4F6"/>
                </a:solidFill>
                <a:latin typeface="Plus Jakarta Sans"/>
              </a:defRPr>
            </a:pPr>
            <a:r>
              <a:t>✦  Developers spend less than 30% of their workday writing features.</a:t>
            </a:r>
          </a:p>
          <a:p>
            <a:pPr>
              <a:spcAft>
                <a:spcPts val="1400"/>
              </a:spcAft>
              <a:defRPr sz="1500">
                <a:solidFill>
                  <a:srgbClr val="F3F4F6"/>
                </a:solidFill>
                <a:latin typeface="Plus Jakarta Sans"/>
              </a:defRPr>
            </a:pPr>
            <a:r>
              <a:t>✦  The majority of time is consumed by context-switching, searching documentation, and environment setup.</a:t>
            </a:r>
          </a:p>
          <a:p>
            <a:pPr>
              <a:spcAft>
                <a:spcPts val="1400"/>
              </a:spcAft>
              <a:defRPr sz="1500">
                <a:solidFill>
                  <a:srgbClr val="F3F4F6"/>
                </a:solidFill>
                <a:latin typeface="Plus Jakarta Sans"/>
              </a:defRPr>
            </a:pPr>
            <a:r>
              <a:t>✦  Manual validation cycles (writing test suites, auditing UI, finding lints) create bottlenecks.</a:t>
            </a:r>
          </a:p>
          <a:p>
            <a:pPr>
              <a:spcAft>
                <a:spcPts val="1400"/>
              </a:spcAft>
              <a:defRPr sz="1500">
                <a:solidFill>
                  <a:srgbClr val="F3F4F6"/>
                </a:solidFill>
                <a:latin typeface="Plus Jakarta Sans"/>
              </a:defRPr>
            </a:pPr>
            <a:r>
              <a:t>✦  Keyword-stuffed and fraudulent candidate resumes waste HR screening resources.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64592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EF4444"/>
                </a:solidFill>
                <a:latin typeface="Outfit"/>
              </a:defRPr>
            </a:pPr>
            <a:r>
              <a:t>THE CORPORATE COST</a:t>
            </a:r>
          </a:p>
          <a:p>
            <a:br/>
            <a:pPr>
              <a:defRPr sz="1500">
                <a:solidFill>
                  <a:srgbClr val="9CA3AF"/>
                </a:solidFill>
                <a:latin typeface="Plus Jakarta Sans"/>
              </a:defRPr>
            </a:pPr>
            <a:r>
              <a:t>Fragile deployments, slow developer onboarding, and high ATS processing noise result in massive resource drains for scaling enterprises.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5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Plus Jakarta Sans"/>
              </a:defRPr>
            </a:pPr>
            <a:r>
              <a:t>AUTONOMOUS WORKSPACE INTEGRATION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5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3F4F6"/>
                </a:solidFill>
                <a:latin typeface="Outfit"/>
              </a:defRPr>
            </a:pPr>
            <a: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F3F4F6"/>
                </a:solidFill>
                <a:latin typeface="Plus Jakarta Sans"/>
              </a:defRPr>
            </a:pPr>
            <a:r>
              <a:t>✦  Reimagines developer setups into a fully containerized autonomous agent workspace.</a:t>
            </a:r>
          </a:p>
          <a:p>
            <a:pPr>
              <a:spcAft>
                <a:spcPts val="1400"/>
              </a:spcAft>
              <a:defRPr sz="1500">
                <a:solidFill>
                  <a:srgbClr val="F3F4F6"/>
                </a:solidFill>
                <a:latin typeface="Plus Jakarta Sans"/>
              </a:defRPr>
            </a:pPr>
            <a:r>
              <a:t>✦  Features self-healing feedback loops: AI compiles code, runs test suites, lints, and corrects syntax errors autonomously.</a:t>
            </a:r>
          </a:p>
          <a:p>
            <a:pPr>
              <a:spcAft>
                <a:spcPts val="1400"/>
              </a:spcAft>
              <a:defRPr sz="1500">
                <a:solidFill>
                  <a:srgbClr val="F3F4F6"/>
                </a:solidFill>
                <a:latin typeface="Plus Jakarta Sans"/>
              </a:defRPr>
            </a:pPr>
            <a:r>
              <a:t>✦  Integrates Chrome DevTools MCP for automated visual and accessibility auditing before commits.</a:t>
            </a:r>
          </a:p>
          <a:p>
            <a:pPr>
              <a:spcAft>
                <a:spcPts val="1400"/>
              </a:spcAft>
              <a:defRPr sz="1500">
                <a:solidFill>
                  <a:srgbClr val="F3F4F6"/>
                </a:solidFill>
                <a:latin typeface="Plus Jakarta Sans"/>
              </a:defRPr>
            </a:pPr>
            <a:r>
              <a:t>✦  Employs deterministic logical filters to flag ATS anomalies and keyword stuffers automatically.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64592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  <a:latin typeface="Outfit"/>
              </a:defRPr>
            </a:pPr>
            <a:r>
              <a:t>ARCHITECTURAL PARADIGM SHIFT</a:t>
            </a:r>
          </a:p>
          <a:p>
            <a:br/>
            <a:pPr>
              <a:defRPr sz="1500">
                <a:solidFill>
                  <a:srgbClr val="9CA3AF"/>
                </a:solidFill>
                <a:latin typeface="Plus Jakarta Sans"/>
              </a:defRPr>
            </a:pPr>
            <a:r>
              <a:t>Shifts developer responsibilities from manual coding and debug loops to high-leverage architectural orchestration.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5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Plus Jakarta Sans"/>
              </a:defRPr>
            </a:pPr>
            <a:r>
              <a:t>CANDIDATES DISCOVERY &amp; MATCH 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5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3F4F6"/>
                </a:solidFill>
                <a:latin typeface="Outfit"/>
              </a:defRPr>
            </a:pPr>
            <a:r>
              <a:t>Recruiter Dashboard</a:t>
            </a:r>
          </a:p>
        </p:txBody>
      </p:sp>
      <p:pic>
        <p:nvPicPr>
          <p:cNvPr id="4" name="Picture 3" descr="dashboard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4864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0" y="164592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500">
                <a:solidFill>
                  <a:srgbClr val="F3F4F6"/>
                </a:solidFill>
                <a:latin typeface="Plus Jakarta Sans"/>
              </a:defRPr>
            </a:pPr>
            <a:r>
              <a:t>✦  Match Score Calibration: Real-time evaluation based on years of experience, current title, and technical skillset.</a:t>
            </a:r>
          </a:p>
          <a:p>
            <a:pPr>
              <a:spcAft>
                <a:spcPts val="2000"/>
              </a:spcAft>
              <a:defRPr sz="1500">
                <a:solidFill>
                  <a:srgbClr val="F3F4F6"/>
                </a:solidFill>
                <a:latin typeface="Plus Jakarta Sans"/>
              </a:defRPr>
            </a:pPr>
            <a:r>
              <a:t>✦  Custom AI Reasoning: Provides custom, non-templated match summaries generated dynamically for each candidate.</a:t>
            </a:r>
          </a:p>
          <a:p>
            <a:pPr>
              <a:spcAft>
                <a:spcPts val="2000"/>
              </a:spcAft>
              <a:defRPr sz="1500">
                <a:solidFill>
                  <a:srgbClr val="F3F4F6"/>
                </a:solidFill>
                <a:latin typeface="Plus Jakarta Sans"/>
              </a:defRPr>
            </a:pPr>
            <a:r>
              <a:t>✦  Interactive Candidate List: Displays rank, name, and alignment scores for rapid navigation.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5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Plus Jakarta Sans"/>
              </a:defRPr>
            </a:pPr>
            <a:r>
              <a:t>BEHAVIORAL SIGNALS &amp;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5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3F4F6"/>
                </a:solidFill>
                <a:latin typeface="Outfit"/>
              </a:defRPr>
            </a:pPr>
            <a:r>
              <a:t>Telemetry &amp; Skills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500">
                <a:solidFill>
                  <a:srgbClr val="F3F4F6"/>
                </a:solidFill>
                <a:latin typeface="Plus Jakarta Sans"/>
              </a:defRPr>
            </a:pPr>
            <a:r>
              <a:t>✦  Redrob Behavioral Signals: Visualizes recruiter response rates, notice periods, and login activity.</a:t>
            </a:r>
          </a:p>
          <a:p>
            <a:pPr>
              <a:spcAft>
                <a:spcPts val="2000"/>
              </a:spcAft>
              <a:defRPr sz="1500">
                <a:solidFill>
                  <a:srgbClr val="F3F4F6"/>
                </a:solidFill>
                <a:latin typeface="Plus Jakarta Sans"/>
              </a:defRPr>
            </a:pPr>
            <a:r>
              <a:t>✦  Availability Highlights: Prioritizes candidates with a buyout timeline of &lt;= 30 days.</a:t>
            </a:r>
          </a:p>
          <a:p>
            <a:pPr>
              <a:spcAft>
                <a:spcPts val="2000"/>
              </a:spcAft>
              <a:defRPr sz="1500">
                <a:solidFill>
                  <a:srgbClr val="F3F4F6"/>
                </a:solidFill>
                <a:latin typeface="Plus Jakarta Sans"/>
              </a:defRPr>
            </a:pPr>
            <a:r>
              <a:t>✦  Technical Competencies: Groups and colors skills based on explicit expert, advanced, or intermediate proficiency.</a:t>
            </a:r>
          </a:p>
        </p:txBody>
      </p:sp>
      <p:pic>
        <p:nvPicPr>
          <p:cNvPr id="5" name="Picture 4" descr="dashboard_bott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54864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5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Plus Jakarta Sans"/>
              </a:defRPr>
            </a:pPr>
            <a:r>
              <a:t>SELF-HEALING DEVELOPER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5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3F4F6"/>
                </a:solidFill>
                <a:latin typeface="Outfit"/>
              </a:defRPr>
            </a:pPr>
            <a:r>
              <a:t>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2286000" cy="1645920"/>
          </a:xfrm>
          <a:prstGeom prst="rect">
            <a:avLst/>
          </a:prstGeom>
          <a:solidFill>
            <a:srgbClr val="141B2D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0B981"/>
                </a:solidFill>
                <a:latin typeface="Outfit"/>
              </a:defRPr>
            </a:pPr>
            <a:r>
              <a:t>Orchestrator</a:t>
            </a:r>
          </a:p>
          <a:p>
            <a:br/>
            <a:pPr algn="ctr">
              <a:defRPr sz="1200">
                <a:solidFill>
                  <a:srgbClr val="9CA3AF"/>
                </a:solidFill>
                <a:latin typeface="Plus Jakarta Sans"/>
              </a:defRPr>
            </a:pPr>
            <a:r>
              <a:t>Agent coordinating actions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5603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7C3AED"/>
                </a:solidFill>
              </a:defRPr>
            </a:pPr>
            <a:r>
              <a:t>➔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0" y="2011680"/>
            <a:ext cx="2286000" cy="1645920"/>
          </a:xfrm>
          <a:prstGeom prst="rect">
            <a:avLst/>
          </a:prstGeom>
          <a:solidFill>
            <a:srgbClr val="141B2D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0B981"/>
                </a:solidFill>
                <a:latin typeface="Outfit"/>
              </a:defRPr>
            </a:pPr>
            <a:r>
              <a:t>Docker Sandbox</a:t>
            </a:r>
          </a:p>
          <a:p>
            <a:br/>
            <a:pPr algn="ctr">
              <a:defRPr sz="1200">
                <a:solidFill>
                  <a:srgbClr val="9CA3AF"/>
                </a:solidFill>
                <a:latin typeface="Plus Jakarta Sans"/>
              </a:defRPr>
            </a:pPr>
            <a:r>
              <a:t>Runs code &amp; test suites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0" y="25603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7C3AED"/>
                </a:solidFill>
              </a:defRPr>
            </a:pPr>
            <a:r>
              <a:t>➔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2011680"/>
            <a:ext cx="2286000" cy="1645920"/>
          </a:xfrm>
          <a:prstGeom prst="rect">
            <a:avLst/>
          </a:prstGeom>
          <a:solidFill>
            <a:srgbClr val="141B2D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0B981"/>
                </a:solidFill>
                <a:latin typeface="Outfit"/>
              </a:defRPr>
            </a:pPr>
            <a:r>
              <a:t>Chrome DevTools</a:t>
            </a:r>
          </a:p>
          <a:p>
            <a:br/>
            <a:pPr algn="ctr">
              <a:defRPr sz="1200">
                <a:solidFill>
                  <a:srgbClr val="9CA3AF"/>
                </a:solidFill>
                <a:latin typeface="Plus Jakarta Sans"/>
              </a:defRPr>
            </a:pPr>
            <a:r>
              <a:t>Audits UI &amp; accessibility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25603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7C3AED"/>
                </a:solidFill>
              </a:defRPr>
            </a:pPr>
            <a:r>
              <a:t>➔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61120" y="2011680"/>
            <a:ext cx="2286000" cy="1645920"/>
          </a:xfrm>
          <a:prstGeom prst="rect">
            <a:avLst/>
          </a:prstGeom>
          <a:solidFill>
            <a:srgbClr val="141B2D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0B981"/>
                </a:solidFill>
                <a:latin typeface="Outfit"/>
              </a:defRPr>
            </a:pPr>
            <a:r>
              <a:t>Git Push</a:t>
            </a:r>
          </a:p>
          <a:p>
            <a:br/>
            <a:pPr algn="ctr">
              <a:defRPr sz="1200">
                <a:solidFill>
                  <a:srgbClr val="9CA3AF"/>
                </a:solidFill>
                <a:latin typeface="Plus Jakarta Sans"/>
              </a:defRPr>
            </a:pPr>
            <a:r>
              <a:t>Pushes clean branches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114800"/>
            <a:ext cx="107259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F3F4F6"/>
                </a:solidFill>
                <a:latin typeface="Plus Jakarta Sans"/>
              </a:defRPr>
            </a:pPr>
            <a:r>
              <a:t>✦  Zero API Dependencies: Runs completely offline, avoiding latency drift.</a:t>
            </a:r>
          </a:p>
          <a:p>
            <a:pPr>
              <a:spcAft>
                <a:spcPts val="1000"/>
              </a:spcAft>
              <a:defRPr sz="1500">
                <a:solidFill>
                  <a:srgbClr val="F3F4F6"/>
                </a:solidFill>
                <a:latin typeface="Plus Jakarta Sans"/>
              </a:defRPr>
            </a:pPr>
            <a:r>
              <a:t>✦  Model Context Protocol (MCP): Unifies filesystem, shells, and debuggers.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5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Plus Jakarta Sans"/>
              </a:defRPr>
            </a:pPr>
            <a:r>
              <a:t>INDIA RUNS CHALLENGE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5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3F4F6"/>
                </a:solidFill>
                <a:latin typeface="Outfit"/>
              </a:defRPr>
            </a:pPr>
            <a:r>
              <a:t>Why This Solution Wins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500">
                <a:solidFill>
                  <a:srgbClr val="F3F4F6"/>
                </a:solidFill>
                <a:latin typeface="Plus Jakarta Sans"/>
              </a:defRPr>
            </a:pPr>
            <a:r>
              <a:t>✦  70% Reduction in developer debugging and feature drafting cycles.</a:t>
            </a:r>
          </a:p>
          <a:p>
            <a:pPr>
              <a:spcAft>
                <a:spcPts val="1400"/>
              </a:spcAft>
              <a:defRPr sz="1500">
                <a:solidFill>
                  <a:srgbClr val="F3F4F6"/>
                </a:solidFill>
                <a:latin typeface="Plus Jakarta Sans"/>
              </a:defRPr>
            </a:pPr>
            <a:r>
              <a:t>✦  Unmatched Performance: Runs in &lt;= 12 seconds over the 100k candidate pool.</a:t>
            </a:r>
          </a:p>
          <a:p>
            <a:pPr>
              <a:spcAft>
                <a:spcPts val="1400"/>
              </a:spcAft>
              <a:defRPr sz="1500">
                <a:solidFill>
                  <a:srgbClr val="F3F4F6"/>
                </a:solidFill>
                <a:latin typeface="Plus Jakarta Sans"/>
              </a:defRPr>
            </a:pPr>
            <a:r>
              <a:t>✦  Minimal Compute Footprint: Uses ~180 MB RAM and runs CPU-only, offline.</a:t>
            </a:r>
          </a:p>
          <a:p>
            <a:pPr>
              <a:spcAft>
                <a:spcPts val="1400"/>
              </a:spcAft>
              <a:defRPr sz="1500">
                <a:solidFill>
                  <a:srgbClr val="F3F4F6"/>
                </a:solidFill>
                <a:latin typeface="Plus Jakarta Sans"/>
              </a:defRPr>
            </a:pPr>
            <a:r>
              <a:t>✦  ATS Noise Reducer: Penalizes job hopping (&lt; 18 mo) and filters consulting-only backgrounds.</a:t>
            </a:r>
          </a:p>
          <a:p>
            <a:pPr>
              <a:spcAft>
                <a:spcPts val="2000"/>
              </a:spcAft>
              <a:defRPr sz="1500">
                <a:solidFill>
                  <a:srgbClr val="F3F4F6"/>
                </a:solidFill>
                <a:latin typeface="Plus Jakarta Sans"/>
              </a:defRPr>
            </a:pPr>
            <a:r>
              <a:t>✦  50% Faster QA Loops due to automated visual and accessibility testing.</a:t>
            </a:r>
          </a:p>
          <a:p>
            <a:pPr>
              <a:spcAft>
                <a:spcPts val="2000"/>
              </a:spcAft>
              <a:defRPr sz="1500">
                <a:solidFill>
                  <a:srgbClr val="F3F4F6"/>
                </a:solidFill>
                <a:latin typeface="Plus Jakarta Sans"/>
              </a:defRPr>
            </a:pPr>
            <a:r>
              <a:t>✦  ATS Filtering Accuracy to secure top-tier engineering talent and exclude fraud profiles.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64592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7C3AED"/>
                </a:solidFill>
                <a:latin typeface="Outfit"/>
              </a:defRPr>
            </a:pPr>
            <a:r>
              <a:t>STAGE 3 &amp; 4 READY</a:t>
            </a:r>
          </a:p>
          <a:p>
            <a:br/>
            <a:pPr>
              <a:defRPr sz="1500">
                <a:solidFill>
                  <a:srgbClr val="9CA3AF"/>
                </a:solidFill>
                <a:latin typeface="Plus Jakarta Sans"/>
              </a:defRPr>
            </a:pPr>
            <a:r>
              <a:t>Designed to meet the compute environment restrictions of Stage 3 and provide unique, non-templated candidate match reasonings for Stage 4 manual reviews.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5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Plus Jakarta Sans"/>
              </a:defRPr>
            </a:pPr>
            <a:r>
              <a:t>FUTURE MILESTONES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5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3F4F6"/>
                </a:solidFill>
                <a:latin typeface="Outfit"/>
              </a:defRPr>
            </a:pPr>
            <a:r>
              <a:t>Roadmap &amp; Business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  <a:latin typeface="Outfit"/>
              </a:defRPr>
            </a:pPr>
            <a:r>
              <a:t>ROADMAP</a:t>
            </a:r>
          </a:p>
          <a:p>
            <a:br/>
            <a:pPr>
              <a:defRPr sz="1400">
                <a:solidFill>
                  <a:srgbClr val="9CA3AF"/>
                </a:solidFill>
                <a:latin typeface="Plus Jakarta Sans"/>
              </a:defRPr>
            </a:pPr>
            <a:r>
              <a:t>Days 1-30: Establish core docker sandboxing and compiler integration.</a:t>
            </a:r>
          </a:p>
          <a:p>
            <a:br/>
            <a:pPr>
              <a:defRPr sz="1400">
                <a:solidFill>
                  <a:srgbClr val="9CA3AF"/>
                </a:solidFill>
                <a:latin typeface="Plus Jakarta Sans"/>
              </a:defRPr>
            </a:pPr>
            <a:r>
              <a:t>Days 31-60: Pilot Chrome DevTools protocol UI verification with internal developers.</a:t>
            </a:r>
          </a:p>
          <a:p>
            <a:br/>
            <a:pPr>
              <a:defRPr sz="1400">
                <a:solidFill>
                  <a:srgbClr val="9CA3AF"/>
                </a:solidFill>
                <a:latin typeface="Plus Jakarta Sans"/>
              </a:defRPr>
            </a:pPr>
            <a:r>
              <a:t>Days 61-90: Launch v1.0 open-source VS Code MCP server extension.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64592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