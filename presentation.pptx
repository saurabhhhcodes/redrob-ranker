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  <a:latin typeface="Outfit"/>
              </a:defRPr>
            </a:pPr>
            <a:r>
              <a:t>Redrob Candidate Discovery Engine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3F4F6"/>
                </a:solidFill>
                <a:latin typeface="Outfit"/>
              </a:defRPr>
            </a:pPr>
            <a:r>
              <a:t>The Self-Healing Autonomous Development Workspace</a:t>
            </a:r>
          </a:p>
          <a:p>
            <a:pPr algn="ctr">
              <a:spcBef>
                <a:spcPts val="4000"/>
              </a:spcBef>
              <a:defRPr sz="1300">
                <a:solidFill>
                  <a:srgbClr val="9CA3AF"/>
                </a:solidFill>
                <a:latin typeface="Plus Jakarta Sans"/>
              </a:defRPr>
            </a:pPr>
            <a:r>
              <a:t>Track 1: The AI Systems Architect: Reimagining Work</a:t>
            </a:r>
            <a:br/>
            <a:r>
              <a:t>Saurabh Kumar Bajpai • saurabhbajpai03@outlook.com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DEVELOPER FRICTION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Developers spend less than 30% of their workday writing features.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The majority of time is consumed by context-switching, searching documentation, and environment setup.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Manual validation cycles (writing test suites, auditing UI, finding lints) create bottlenecks.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Keyword-stuffed and fraudulent candidate resumes waste HR screening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Outfit"/>
              </a:defRPr>
            </a:pPr>
            <a:r>
              <a:t>THE CORPORATE COST</a:t>
            </a:r>
          </a:p>
          <a:p>
            <a:br/>
            <a:pPr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Fragile deployments, slow developer onboarding, and high ATS processing noise result in massive resource drains for scaling enterprises.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AUTONOMOUS WORKSPACE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Reimagines developer setups into a fully containerized autonomous agent workspace.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Features self-healing feedback loops: AI compiles code, runs test suites, lints, and corrects syntax errors autonomously.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Integrates Chrome DevTools MCP for automated visual and accessibility auditing before commits.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Employs deterministic logical filters to flag ATS anomalies and keyword stuffers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Outfit"/>
              </a:defRPr>
            </a:pPr>
            <a:r>
              <a:t>ARCHITECTURAL PARADIGM SHIFT</a:t>
            </a:r>
          </a:p>
          <a:p>
            <a:br/>
            <a:pPr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Shifts developer responsibilities from manual coding and debug loops to high-leverage architectural orchestration.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CANDIDATES DISCOVERY &amp; MATCH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Recruiter Dashboard</a:t>
            </a:r>
          </a:p>
        </p:txBody>
      </p:sp>
      <p:pic>
        <p:nvPicPr>
          <p:cNvPr id="4" name="Picture 3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Match Score Calibration: Real-time evaluation based on years of experience, current title, and technical skillset.</a:t>
            </a:r>
          </a:p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Custom AI Reasoning: Provides custom, non-templated match summaries generated dynamically for each candidate.</a:t>
            </a:r>
          </a:p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Interactive Candidate List: Displays rank, name, and alignment scores for rapid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BEHAVIORAL SIGNALS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Telemetry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Redrob Behavioral Signals: Visualizes recruiter response rates, notice periods, and login activity.</a:t>
            </a:r>
          </a:p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Availability Highlights: Prioritizes candidates with a buyout timeline of &lt;= 30 days.</a:t>
            </a:r>
          </a:p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Technical Competencies: Groups and colors skills based on explicit expert, advanced, or intermediate proficiency.</a:t>
            </a:r>
          </a:p>
        </p:txBody>
      </p:sp>
      <p:pic>
        <p:nvPicPr>
          <p:cNvPr id="5" name="Picture 4" descr="dashboard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SELF-HEALING DEVELOPER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286000" cy="1645920"/>
          </a:xfrm>
          <a:prstGeom prst="rect">
            <a:avLst/>
          </a:prstGeom>
          <a:solidFill>
            <a:srgbClr val="141B2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Outfit"/>
              </a:defRPr>
            </a:pPr>
            <a:r>
              <a:t>Orchestrator</a:t>
            </a:r>
          </a:p>
          <a:p>
            <a:br/>
            <a:pPr algn="ctr">
              <a:defRPr sz="1200">
                <a:solidFill>
                  <a:srgbClr val="9CA3AF"/>
                </a:solidFill>
                <a:latin typeface="Plus Jakarta Sans"/>
              </a:defRPr>
            </a:pPr>
            <a:r>
              <a:t>Agent coordinating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C3AED"/>
                </a:solidFill>
              </a:defRPr>
            </a:pPr>
            <a:r>
              <a:t>➔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011680"/>
            <a:ext cx="2286000" cy="1645920"/>
          </a:xfrm>
          <a:prstGeom prst="rect">
            <a:avLst/>
          </a:prstGeom>
          <a:solidFill>
            <a:srgbClr val="141B2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Outfit"/>
              </a:defRPr>
            </a:pPr>
            <a:r>
              <a:t>Docker Sandbox</a:t>
            </a:r>
          </a:p>
          <a:p>
            <a:br/>
            <a:pPr algn="ctr">
              <a:defRPr sz="1200">
                <a:solidFill>
                  <a:srgbClr val="9CA3AF"/>
                </a:solidFill>
                <a:latin typeface="Plus Jakarta Sans"/>
              </a:defRPr>
            </a:pPr>
            <a:r>
              <a:t>Runs code &amp; test suites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C3AED"/>
                </a:solidFill>
              </a:defRPr>
            </a:pPr>
            <a: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2286000" cy="1645920"/>
          </a:xfrm>
          <a:prstGeom prst="rect">
            <a:avLst/>
          </a:prstGeom>
          <a:solidFill>
            <a:srgbClr val="141B2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Outfit"/>
              </a:defRPr>
            </a:pPr>
            <a:r>
              <a:t>Chrome DevTools</a:t>
            </a:r>
          </a:p>
          <a:p>
            <a:br/>
            <a:pPr algn="ctr">
              <a:defRPr sz="1200">
                <a:solidFill>
                  <a:srgbClr val="9CA3AF"/>
                </a:solidFill>
                <a:latin typeface="Plus Jakarta Sans"/>
              </a:defRPr>
            </a:pPr>
            <a:r>
              <a:t>Audits UI &amp; 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C3AED"/>
                </a:solidFill>
              </a:defRPr>
            </a:pPr>
            <a: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011680"/>
            <a:ext cx="2286000" cy="1645920"/>
          </a:xfrm>
          <a:prstGeom prst="rect">
            <a:avLst/>
          </a:prstGeom>
          <a:solidFill>
            <a:srgbClr val="141B2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Outfit"/>
              </a:defRPr>
            </a:pPr>
            <a:r>
              <a:t>Git Push</a:t>
            </a:r>
          </a:p>
          <a:p>
            <a:br/>
            <a:pPr algn="ctr">
              <a:defRPr sz="1200">
                <a:solidFill>
                  <a:srgbClr val="9CA3AF"/>
                </a:solidFill>
                <a:latin typeface="Plus Jakarta Sans"/>
              </a:defRPr>
            </a:pPr>
            <a:r>
              <a:t>Pushes clean branches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7259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Zero API Dependencies: Runs completely offline, avoiding latency drift.</a:t>
            </a:r>
          </a:p>
          <a:p>
            <a:pPr>
              <a:spcAft>
                <a:spcPts val="1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Model Context Protocol (MCP): Unifies filesystem, shells, and debuggers.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INDIA RUNS CHALLENGE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Why This Solution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70% Reduction in developer debugging and feature drafting cycles.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Unmatched Performance: Runs in &amp;le; 12 seconds over the 100k candidate pool.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Minimal Compute Footprint: Uses ~180 MB RAM and runs CPU-only, offline.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ATS Noise Reducer: Penalizes job hopping (&lt; 18 mo) and filters consulting-only backgrounds.</a:t>
            </a:r>
          </a:p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50% Faster QA Loops due to automated visual and accessibility testing.</a:t>
            </a:r>
          </a:p>
          <a:p>
            <a:pPr>
              <a:spcAft>
                <a:spcPts val="2000"/>
              </a:spcAft>
              <a:defRPr sz="1500">
                <a:solidFill>
                  <a:srgbClr val="F3F4F6"/>
                </a:solidFill>
                <a:latin typeface="Plus Jakarta Sans"/>
              </a:defRPr>
            </a:pPr>
            <a:r>
              <a:t>✦  ATS Filtering Accuracy to secure top-tier engineering talent and exclude fraud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Outfit"/>
              </a:defRPr>
            </a:pPr>
            <a:r>
              <a:t>STAGE 3 &amp; 4 READY</a:t>
            </a:r>
          </a:p>
          <a:p>
            <a:br/>
            <a:pPr>
              <a:defRPr sz="1500">
                <a:solidFill>
                  <a:srgbClr val="9CA3AF"/>
                </a:solidFill>
                <a:latin typeface="Plus Jakarta Sans"/>
              </a:defRPr>
            </a:pPr>
            <a:r>
              <a:t>Designed to meet the compute environment restrictions of Stage 3 and provide unique, non-templated candidate match reasonings for Stage 4 manual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FUTURE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Roadmap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Outfit"/>
              </a:defRPr>
            </a:pPr>
            <a:r>
              <a:t>ROADMAP</a:t>
            </a:r>
          </a:p>
          <a:p>
            <a:br/>
            <a:pPr>
              <a:defRPr sz="1400">
                <a:solidFill>
                  <a:srgbClr val="9CA3AF"/>
                </a:solidFill>
                <a:latin typeface="Plus Jakarta Sans"/>
              </a:defRPr>
            </a:pPr>
            <a:r>
              <a:t>Days 1-30: Establish core docker sandboxing and compiler integration.</a:t>
            </a:r>
          </a:p>
          <a:p>
            <a:br/>
            <a:pPr>
              <a:defRPr sz="1400">
                <a:solidFill>
                  <a:srgbClr val="9CA3AF"/>
                </a:solidFill>
                <a:latin typeface="Plus Jakarta Sans"/>
              </a:defRPr>
            </a:pPr>
            <a:r>
              <a:t>Days 31-60: Pilot Chrome DevTools protocol UI verification with internal developers.</a:t>
            </a:r>
          </a:p>
          <a:p>
            <a:br/>
            <a:pPr>
              <a:defRPr sz="1400">
                <a:solidFill>
                  <a:srgbClr val="9CA3AF"/>
                </a:solidFill>
                <a:latin typeface="Plus Jakarta Sans"/>
              </a:defRPr>
            </a:pPr>
            <a:r>
              <a:t>Days 61-90: Launch v1.0 open-source VS Code MCP server extension.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